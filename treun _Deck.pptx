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7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2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000" dirty="0">
                <a:solidFill>
                  <a:srgbClr val="EDE9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DE9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948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DÌON PROTECTING THE PROTECTOR Dìon is building enhanced soldier systems that gives those in harms way a decisive advantag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15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1727200"/>
            <a:ext cx="9810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personal one.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784475"/>
            <a:ext cx="5149850" cy="1793875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3950" y="3092450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cs typeface="Helvetica" pitchFamily="34" charset="-120"/>
              </a:rPr>
              <a:t>Units don’t get the assets they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3950" y="3498850"/>
            <a:ext cx="466991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Display latency contributed to cybersickness on the US Army's IVAS programme. A perception aid that cannot be worn for hours protects no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6175" y="2784475"/>
            <a:ext cx="5149850" cy="1793875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4150" y="3092450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cs typeface="Helvetica" pitchFamily="34" charset="-120"/>
              </a:rPr>
              <a:t>Money is lost in the process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4150" y="3498850"/>
            <a:ext cx="466991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Spotting threats, recognising drills and reporting what they see all compete for attention when it matters most.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2</a:t>
            </a:r>
            <a:endParaRPr lang="en-US" sz="1200" dirty="0"/>
          </a:p>
        </p:txBody>
      </p:sp>
      <p:pic>
        <p:nvPicPr>
          <p:cNvPr id="11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12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dirty="0" err="1">
                <a:latin typeface="Georgia" pitchFamily="18" charset="0"/>
              </a:rPr>
              <a:t>treun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1727200"/>
            <a:ext cx="98107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67A4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procurement ledger for instant and traceable cross-border </a:t>
            </a:r>
            <a:r>
              <a:rPr lang="en-US" sz="2200" dirty="0" err="1">
                <a:solidFill>
                  <a:srgbClr val="B67A4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defence</a:t>
            </a:r>
            <a:r>
              <a:rPr lang="en-US" sz="2200" dirty="0">
                <a:solidFill>
                  <a:srgbClr val="B67A4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supply.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43522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1C2027"/>
          </a:solidFill>
          <a:ln w="635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23950" y="274320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DE9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3950" y="3149600"/>
            <a:ext cx="281241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Thermal and low-light channels fused into one view for high-threat environments.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22775" y="243522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1C2027"/>
          </a:solidFill>
          <a:ln w="635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30750" y="274320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DE9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Stay comfortable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30750" y="3149600"/>
            <a:ext cx="281241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latency-first pixel path built to keep display delay below the point where cybersickness sets 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29575" y="243522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1C2027"/>
          </a:solidFill>
          <a:ln w="635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337550" y="274320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DE9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37550" y="3149600"/>
            <a:ext cx="281241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on-device AI layer that interprets the scene, so the soldier does not have to do it alone.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AE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3</a:t>
            </a:r>
            <a:endParaRPr lang="en-US" sz="1200" dirty="0"/>
          </a:p>
        </p:txBody>
      </p:sp>
      <p:pic>
        <p:nvPicPr>
          <p:cNvPr id="14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15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15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AI layer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239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950" y="2444750"/>
            <a:ext cx="281241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Threats and objects, flagged in the soldier's view.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227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7307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Recognise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30750" y="2444750"/>
            <a:ext cx="281241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situations and standard procedures, with context-specific guidance.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295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3375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37550" y="2444750"/>
            <a:ext cx="281241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situation reports that cut the burden of communicating, so soldiers can focus on shoot and move.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140200"/>
            <a:ext cx="98107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215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Built for survivability and situational awareness, not targeting or lethality.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4</a:t>
            </a:r>
            <a:endParaRPr lang="en-US" sz="1200" dirty="0"/>
          </a:p>
        </p:txBody>
      </p:sp>
      <p:pic>
        <p:nvPicPr>
          <p:cNvPr id="14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15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981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EDE9E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Clients own their data. We license the models.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934" y="2235200"/>
            <a:ext cx="9746996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operational data stays with the client or unit.</a:t>
            </a:r>
            <a:endParaRPr lang="en-US" sz="1800" dirty="0"/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licenses derived models and tooling only.</a:t>
            </a:r>
            <a:endParaRPr lang="en-US" sz="1800" dirty="0"/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and V2 devices capture footage and drill reviews to build a labelled training dataset, under unit control.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819922"/>
            <a:ext cx="98107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67A4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governance is a trust signal, and a requirement for adoption in defence.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AE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5</a:t>
            </a:r>
            <a:endParaRPr lang="en-US" sz="1200" dirty="0"/>
          </a:p>
        </p:txBody>
      </p:sp>
      <p:pic>
        <p:nvPicPr>
          <p:cNvPr id="6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7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15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239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· now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950" y="2444750"/>
            <a:ext cx="281241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Working prototype with a latency-first pixel path. Latency validation in progress.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227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7307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30750" y="2444750"/>
            <a:ext cx="281241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Stereo vision, with dual low-light and dual thermal sensors and visual-inertial tracking.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29575" y="1730375"/>
            <a:ext cx="33464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337550" y="2038350"/>
            <a:ext cx="2812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V3 and beyond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37550" y="2444750"/>
            <a:ext cx="281241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B41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Chip-scale photonic optical engine, NATO and US-compliant bill of materials, helmet integration.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6</a:t>
            </a:r>
            <a:endParaRPr lang="en-US" sz="1200" dirty="0"/>
          </a:p>
        </p:txBody>
      </p:sp>
      <p:pic>
        <p:nvPicPr>
          <p:cNvPr id="13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14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EDE9E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Team and ask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5149850" cy="2089150"/>
          </a:xfrm>
          <a:prstGeom prst="roundRect">
            <a:avLst>
              <a:gd name="adj" fmla="val 4711"/>
            </a:avLst>
          </a:prstGeom>
          <a:solidFill>
            <a:srgbClr val="1C2027"/>
          </a:solidFill>
          <a:ln w="635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23950" y="2038350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DE9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Chris Stewart, founder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950" y="2444750"/>
            <a:ext cx="466991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Aerospace systems engineer: launch vehicle systems at Orbex, ESA work on GNC and mission analysis, UKSA NSIP proposal assessor. MRes in Photonic and Electronic Systems, University of Cambridge.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26175" y="1730375"/>
            <a:ext cx="5149850" cy="2089150"/>
          </a:xfrm>
          <a:prstGeom prst="roundRect">
            <a:avLst>
              <a:gd name="adj" fmla="val 4711"/>
            </a:avLst>
          </a:prstGeom>
          <a:solidFill>
            <a:srgbClr val="1C2027"/>
          </a:solidFill>
          <a:ln w="635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34150" y="2038350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67A4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are looking for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4150" y="2444750"/>
            <a:ext cx="466991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[Funding or prize sought: £__]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Mentors in defence technology and edge AI.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Introductions to defence customers and investors.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AE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Dìon Industries · 7</a:t>
            </a:r>
            <a:endParaRPr lang="en-US" sz="1200" dirty="0"/>
          </a:p>
        </p:txBody>
      </p:sp>
      <p:pic>
        <p:nvPicPr>
          <p:cNvPr id="10" name="Image 0" descr="Dì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0" y="355600"/>
            <a:ext cx="609600" cy="609600"/>
          </a:xfrm>
          <a:prstGeom prst="rect">
            <a:avLst/>
          </a:prstGeom>
        </p:spPr>
      </p:pic>
      <p:pic>
        <p:nvPicPr>
          <p:cNvPr id="11" name="Image 1" descr="Wave fading into photon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Widescreen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Georgia</vt:lpstr>
      <vt:lpstr>Helvetica</vt:lpstr>
      <vt:lpstr>Office Theme</vt:lpstr>
      <vt:lpstr>PowerPoint Presentation</vt:lpstr>
      <vt:lpstr>The problem</vt:lpstr>
      <vt:lpstr>treun</vt:lpstr>
      <vt:lpstr>The AI layer</vt:lpstr>
      <vt:lpstr>Clients own their data. We license the models.</vt:lpstr>
      <vt:lpstr>Roadmap</vt:lpstr>
      <vt:lpstr>Team and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Dìon Industries – Scáha Pitch Deck</dc:title>
  <dc:subject/>
  <dc:creator/>
  <cp:lastModifiedBy>C.A. Stewart</cp:lastModifiedBy>
  <cp:revision>2</cp:revision>
  <dcterms:created xsi:type="dcterms:W3CDTF">2026-10-25T16:56:27Z</dcterms:created>
  <dcterms:modified xsi:type="dcterms:W3CDTF">2026-10-25T17:01:46Z</dcterms:modified>
</cp:coreProperties>
</file>